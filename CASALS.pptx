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571" r:id="rId3"/>
    <p:sldId id="572" r:id="rId4"/>
    <p:sldId id="575" r:id="rId5"/>
    <p:sldId id="577" r:id="rId6"/>
    <p:sldId id="573" r:id="rId7"/>
    <p:sldId id="574" r:id="rId8"/>
    <p:sldId id="578" r:id="rId9"/>
    <p:sldId id="586" r:id="rId10"/>
    <p:sldId id="576" r:id="rId11"/>
    <p:sldId id="580" r:id="rId12"/>
    <p:sldId id="579" r:id="rId13"/>
    <p:sldId id="581" r:id="rId14"/>
    <p:sldId id="582" r:id="rId15"/>
    <p:sldId id="583" r:id="rId16"/>
    <p:sldId id="584" r:id="rId17"/>
    <p:sldId id="585" r:id="rId18"/>
  </p:sldIdLst>
  <p:sldSz cx="12192000" cy="685800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BDC5C8E-FE77-4A1D-996F-C5C763F2A40F}">
          <p14:sldIdLst>
            <p14:sldId id="256"/>
            <p14:sldId id="571"/>
            <p14:sldId id="572"/>
            <p14:sldId id="575"/>
            <p14:sldId id="577"/>
            <p14:sldId id="573"/>
            <p14:sldId id="574"/>
            <p14:sldId id="578"/>
            <p14:sldId id="586"/>
            <p14:sldId id="576"/>
            <p14:sldId id="580"/>
            <p14:sldId id="579"/>
            <p14:sldId id="581"/>
            <p14:sldId id="582"/>
            <p14:sldId id="583"/>
            <p14:sldId id="584"/>
            <p14:sldId id="58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FFE1E1"/>
    <a:srgbClr val="FEC3B7"/>
    <a:srgbClr val="0000FF"/>
    <a:srgbClr val="03E103"/>
    <a:srgbClr val="FF0000"/>
    <a:srgbClr val="A1F7B1"/>
    <a:srgbClr val="4272C4"/>
    <a:srgbClr val="FF0006"/>
    <a:srgbClr val="A9D1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747E727-3C78-4E35-A236-66E6CD3D4D99}" v="19" dt="2026-06-18T13:51:12.5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552" autoAdjust="0"/>
  </p:normalViewPr>
  <p:slideViewPr>
    <p:cSldViewPr snapToGrid="0">
      <p:cViewPr>
        <p:scale>
          <a:sx n="150" d="100"/>
          <a:sy n="150" d="100"/>
        </p:scale>
        <p:origin x="597" y="2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ageng Zhong" userId="b52c9415-1ab4-4841-99d2-946641921277" providerId="ADAL" clId="{8EC3C21B-848A-4780-93CD-51C3A3128A88}"/>
    <pc:docChg chg="undo custSel addSld delSld modSld sldOrd modSection">
      <pc:chgData name="Jiageng Zhong" userId="b52c9415-1ab4-4841-99d2-946641921277" providerId="ADAL" clId="{8EC3C21B-848A-4780-93CD-51C3A3128A88}" dt="2026-06-18T13:51:20.288" v="946" actId="21"/>
      <pc:docMkLst>
        <pc:docMk/>
      </pc:docMkLst>
      <pc:sldChg chg="addSp delSp modSp mod">
        <pc:chgData name="Jiageng Zhong" userId="b52c9415-1ab4-4841-99d2-946641921277" providerId="ADAL" clId="{8EC3C21B-848A-4780-93CD-51C3A3128A88}" dt="2026-06-18T00:41:24.645" v="701" actId="1076"/>
        <pc:sldMkLst>
          <pc:docMk/>
          <pc:sldMk cId="2174094271" sldId="579"/>
        </pc:sldMkLst>
        <pc:spChg chg="mod">
          <ac:chgData name="Jiageng Zhong" userId="b52c9415-1ab4-4841-99d2-946641921277" providerId="ADAL" clId="{8EC3C21B-848A-4780-93CD-51C3A3128A88}" dt="2026-06-17T23:58:01.669" v="655" actId="20577"/>
          <ac:spMkLst>
            <pc:docMk/>
            <pc:sldMk cId="2174094271" sldId="579"/>
            <ac:spMk id="2" creationId="{1AF2EF34-039C-5136-554D-9D298052D138}"/>
          </ac:spMkLst>
        </pc:spChg>
        <pc:spChg chg="add mod">
          <ac:chgData name="Jiageng Zhong" userId="b52c9415-1ab4-4841-99d2-946641921277" providerId="ADAL" clId="{8EC3C21B-848A-4780-93CD-51C3A3128A88}" dt="2026-06-17T23:59:58.358" v="664" actId="1076"/>
          <ac:spMkLst>
            <pc:docMk/>
            <pc:sldMk cId="2174094271" sldId="579"/>
            <ac:spMk id="4" creationId="{B8AF33C8-EFA2-4C71-5A09-F5D190643538}"/>
          </ac:spMkLst>
        </pc:spChg>
        <pc:spChg chg="add del">
          <ac:chgData name="Jiageng Zhong" userId="b52c9415-1ab4-4841-99d2-946641921277" providerId="ADAL" clId="{8EC3C21B-848A-4780-93CD-51C3A3128A88}" dt="2026-06-17T23:59:02.757" v="657" actId="478"/>
          <ac:spMkLst>
            <pc:docMk/>
            <pc:sldMk cId="2174094271" sldId="579"/>
            <ac:spMk id="6" creationId="{F9727AF8-7646-5C5F-94CD-D9C95FE89C64}"/>
          </ac:spMkLst>
        </pc:spChg>
        <pc:spChg chg="add mod">
          <ac:chgData name="Jiageng Zhong" userId="b52c9415-1ab4-4841-99d2-946641921277" providerId="ADAL" clId="{8EC3C21B-848A-4780-93CD-51C3A3128A88}" dt="2026-06-17T23:59:52.877" v="663" actId="123"/>
          <ac:spMkLst>
            <pc:docMk/>
            <pc:sldMk cId="2174094271" sldId="579"/>
            <ac:spMk id="8" creationId="{52EFDEDD-6980-1782-B215-852019A77CE6}"/>
          </ac:spMkLst>
        </pc:spChg>
        <pc:spChg chg="add mod">
          <ac:chgData name="Jiageng Zhong" userId="b52c9415-1ab4-4841-99d2-946641921277" providerId="ADAL" clId="{8EC3C21B-848A-4780-93CD-51C3A3128A88}" dt="2026-06-18T00:41:24.645" v="701" actId="1076"/>
          <ac:spMkLst>
            <pc:docMk/>
            <pc:sldMk cId="2174094271" sldId="579"/>
            <ac:spMk id="10" creationId="{27B0FD65-FE21-5B80-A449-8AE26BEC34A6}"/>
          </ac:spMkLst>
        </pc:spChg>
        <pc:spChg chg="add mod">
          <ac:chgData name="Jiageng Zhong" userId="b52c9415-1ab4-4841-99d2-946641921277" providerId="ADAL" clId="{8EC3C21B-848A-4780-93CD-51C3A3128A88}" dt="2026-06-18T00:41:14.106" v="698" actId="1076"/>
          <ac:spMkLst>
            <pc:docMk/>
            <pc:sldMk cId="2174094271" sldId="579"/>
            <ac:spMk id="11" creationId="{1A17B51D-6F9D-B2B9-74AF-1FB459B070BD}"/>
          </ac:spMkLst>
        </pc:spChg>
        <pc:picChg chg="add mod">
          <ac:chgData name="Jiageng Zhong" userId="b52c9415-1ab4-4841-99d2-946641921277" providerId="ADAL" clId="{8EC3C21B-848A-4780-93CD-51C3A3128A88}" dt="2026-06-18T00:41:19.464" v="700" actId="1076"/>
          <ac:picMkLst>
            <pc:docMk/>
            <pc:sldMk cId="2174094271" sldId="579"/>
            <ac:picMk id="9" creationId="{3D43D129-154F-9571-20F7-D441C64F13FC}"/>
          </ac:picMkLst>
        </pc:picChg>
      </pc:sldChg>
      <pc:sldChg chg="addSp delSp modSp add mod ord">
        <pc:chgData name="Jiageng Zhong" userId="b52c9415-1ab4-4841-99d2-946641921277" providerId="ADAL" clId="{8EC3C21B-848A-4780-93CD-51C3A3128A88}" dt="2026-06-17T23:52:38.822" v="622" actId="20577"/>
        <pc:sldMkLst>
          <pc:docMk/>
          <pc:sldMk cId="149061395" sldId="580"/>
        </pc:sldMkLst>
        <pc:spChg chg="del">
          <ac:chgData name="Jiageng Zhong" userId="b52c9415-1ab4-4841-99d2-946641921277" providerId="ADAL" clId="{8EC3C21B-848A-4780-93CD-51C3A3128A88}" dt="2026-06-17T23:51:43.094" v="586" actId="478"/>
          <ac:spMkLst>
            <pc:docMk/>
            <pc:sldMk cId="149061395" sldId="580"/>
            <ac:spMk id="2" creationId="{ECA4B0F6-5BEE-8AA2-AF07-6CEFEBCBA143}"/>
          </ac:spMkLst>
        </pc:spChg>
        <pc:spChg chg="add mod">
          <ac:chgData name="Jiageng Zhong" userId="b52c9415-1ab4-4841-99d2-946641921277" providerId="ADAL" clId="{8EC3C21B-848A-4780-93CD-51C3A3128A88}" dt="2026-06-17T23:52:38.822" v="622" actId="20577"/>
          <ac:spMkLst>
            <pc:docMk/>
            <pc:sldMk cId="149061395" sldId="580"/>
            <ac:spMk id="3" creationId="{F3CFA3F1-91FC-68B7-A03A-D5FC93B97B74}"/>
          </ac:spMkLst>
        </pc:spChg>
      </pc:sldChg>
      <pc:sldChg chg="addSp delSp modSp mod delAnim modAnim">
        <pc:chgData name="Jiageng Zhong" userId="b52c9415-1ab4-4841-99d2-946641921277" providerId="ADAL" clId="{8EC3C21B-848A-4780-93CD-51C3A3128A88}" dt="2026-06-18T00:41:55.952" v="753" actId="1038"/>
        <pc:sldMkLst>
          <pc:docMk/>
          <pc:sldMk cId="821907803" sldId="581"/>
        </pc:sldMkLst>
        <pc:spChg chg="mod">
          <ac:chgData name="Jiageng Zhong" userId="b52c9415-1ab4-4841-99d2-946641921277" providerId="ADAL" clId="{8EC3C21B-848A-4780-93CD-51C3A3128A88}" dt="2026-06-18T00:41:36.679" v="716" actId="20577"/>
          <ac:spMkLst>
            <pc:docMk/>
            <pc:sldMk cId="821907803" sldId="581"/>
            <ac:spMk id="2" creationId="{FCA73ACD-9A81-5F5C-9A9F-A6F6EC7601FD}"/>
          </ac:spMkLst>
        </pc:spChg>
        <pc:picChg chg="add del mod">
          <ac:chgData name="Jiageng Zhong" userId="b52c9415-1ab4-4841-99d2-946641921277" providerId="ADAL" clId="{8EC3C21B-848A-4780-93CD-51C3A3128A88}" dt="2026-06-18T00:04:19.602" v="668" actId="478"/>
          <ac:picMkLst>
            <pc:docMk/>
            <pc:sldMk cId="821907803" sldId="581"/>
            <ac:picMk id="3" creationId="{B7E50A62-77B8-743E-A6D2-B9FD2D85EF9B}"/>
          </ac:picMkLst>
        </pc:picChg>
        <pc:picChg chg="add mod ord">
          <ac:chgData name="Jiageng Zhong" userId="b52c9415-1ab4-4841-99d2-946641921277" providerId="ADAL" clId="{8EC3C21B-848A-4780-93CD-51C3A3128A88}" dt="2026-06-18T00:41:55.952" v="753" actId="1038"/>
          <ac:picMkLst>
            <pc:docMk/>
            <pc:sldMk cId="821907803" sldId="581"/>
            <ac:picMk id="4" creationId="{5AF826A6-6DDB-DA27-A4D0-DD012B48B78B}"/>
          </ac:picMkLst>
        </pc:picChg>
      </pc:sldChg>
      <pc:sldChg chg="addSp delSp modSp mod">
        <pc:chgData name="Jiageng Zhong" userId="b52c9415-1ab4-4841-99d2-946641921277" providerId="ADAL" clId="{8EC3C21B-848A-4780-93CD-51C3A3128A88}" dt="2026-06-18T13:51:20.288" v="946" actId="21"/>
        <pc:sldMkLst>
          <pc:docMk/>
          <pc:sldMk cId="3556191564" sldId="582"/>
        </pc:sldMkLst>
        <pc:spChg chg="mod">
          <ac:chgData name="Jiageng Zhong" userId="b52c9415-1ab4-4841-99d2-946641921277" providerId="ADAL" clId="{8EC3C21B-848A-4780-93CD-51C3A3128A88}" dt="2026-06-18T00:42:19.739" v="762" actId="20577"/>
          <ac:spMkLst>
            <pc:docMk/>
            <pc:sldMk cId="3556191564" sldId="582"/>
            <ac:spMk id="2" creationId="{6BD22288-CDC5-FAD4-D6E1-E9F2FBA91C3F}"/>
          </ac:spMkLst>
        </pc:spChg>
        <pc:spChg chg="add del mod">
          <ac:chgData name="Jiageng Zhong" userId="b52c9415-1ab4-4841-99d2-946641921277" providerId="ADAL" clId="{8EC3C21B-848A-4780-93CD-51C3A3128A88}" dt="2026-06-18T13:48:22.614" v="921"/>
          <ac:spMkLst>
            <pc:docMk/>
            <pc:sldMk cId="3556191564" sldId="582"/>
            <ac:spMk id="5" creationId="{598F0EAF-599D-12BB-2273-30F920E36FCC}"/>
          </ac:spMkLst>
        </pc:spChg>
        <pc:spChg chg="add mod">
          <ac:chgData name="Jiageng Zhong" userId="b52c9415-1ab4-4841-99d2-946641921277" providerId="ADAL" clId="{8EC3C21B-848A-4780-93CD-51C3A3128A88}" dt="2026-06-18T13:48:03.446" v="917" actId="14100"/>
          <ac:spMkLst>
            <pc:docMk/>
            <pc:sldMk cId="3556191564" sldId="582"/>
            <ac:spMk id="6" creationId="{709403E5-90E8-D23A-6B14-DC16CFA14655}"/>
          </ac:spMkLst>
        </pc:spChg>
        <pc:spChg chg="add">
          <ac:chgData name="Jiageng Zhong" userId="b52c9415-1ab4-4841-99d2-946641921277" providerId="ADAL" clId="{8EC3C21B-848A-4780-93CD-51C3A3128A88}" dt="2026-06-18T13:48:19.739" v="919"/>
          <ac:spMkLst>
            <pc:docMk/>
            <pc:sldMk cId="3556191564" sldId="582"/>
            <ac:spMk id="7" creationId="{4BE7821A-E59B-A753-A49E-DC0A488E4E6B}"/>
          </ac:spMkLst>
        </pc:spChg>
        <pc:spChg chg="add mod">
          <ac:chgData name="Jiageng Zhong" userId="b52c9415-1ab4-4841-99d2-946641921277" providerId="ADAL" clId="{8EC3C21B-848A-4780-93CD-51C3A3128A88}" dt="2026-06-18T13:48:31.813" v="924" actId="14100"/>
          <ac:spMkLst>
            <pc:docMk/>
            <pc:sldMk cId="3556191564" sldId="582"/>
            <ac:spMk id="8" creationId="{A2C82124-9FD9-C391-9256-FD575107C038}"/>
          </ac:spMkLst>
        </pc:spChg>
        <pc:spChg chg="add mod">
          <ac:chgData name="Jiageng Zhong" userId="b52c9415-1ab4-4841-99d2-946641921277" providerId="ADAL" clId="{8EC3C21B-848A-4780-93CD-51C3A3128A88}" dt="2026-06-18T13:51:20.288" v="946" actId="21"/>
          <ac:spMkLst>
            <pc:docMk/>
            <pc:sldMk cId="3556191564" sldId="582"/>
            <ac:spMk id="9" creationId="{581B3ABD-1718-702A-2E8A-88844ABFEB98}"/>
          </ac:spMkLst>
        </pc:spChg>
        <pc:picChg chg="add mod modCrop">
          <ac:chgData name="Jiageng Zhong" userId="b52c9415-1ab4-4841-99d2-946641921277" providerId="ADAL" clId="{8EC3C21B-848A-4780-93CD-51C3A3128A88}" dt="2026-06-18T13:47:01.587" v="896" actId="1076"/>
          <ac:picMkLst>
            <pc:docMk/>
            <pc:sldMk cId="3556191564" sldId="582"/>
            <ac:picMk id="4" creationId="{5C56AADC-8D72-FF9B-50C6-EEA7CEF62FAF}"/>
          </ac:picMkLst>
        </pc:picChg>
      </pc:sldChg>
      <pc:sldChg chg="modSp mod">
        <pc:chgData name="Jiageng Zhong" userId="b52c9415-1ab4-4841-99d2-946641921277" providerId="ADAL" clId="{8EC3C21B-848A-4780-93CD-51C3A3128A88}" dt="2026-06-18T00:42:31.365" v="776" actId="20577"/>
        <pc:sldMkLst>
          <pc:docMk/>
          <pc:sldMk cId="1014741727" sldId="583"/>
        </pc:sldMkLst>
        <pc:spChg chg="mod">
          <ac:chgData name="Jiageng Zhong" userId="b52c9415-1ab4-4841-99d2-946641921277" providerId="ADAL" clId="{8EC3C21B-848A-4780-93CD-51C3A3128A88}" dt="2026-06-18T00:42:31.365" v="776" actId="20577"/>
          <ac:spMkLst>
            <pc:docMk/>
            <pc:sldMk cId="1014741727" sldId="583"/>
            <ac:spMk id="2" creationId="{F8C328F6-1DA1-DB0D-2B0C-386C85C97F0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7FC1E3-60BF-42DB-BABF-97110DE7E195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366713-8B59-4B43-8640-53155432D15D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66713-8B59-4B43-8640-53155432D15D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/>
          <p:cNvSpPr/>
          <p:nvPr/>
        </p:nvSpPr>
        <p:spPr>
          <a:xfrm>
            <a:off x="304800" y="214745"/>
            <a:ext cx="11594592" cy="6035040"/>
          </a:xfrm>
          <a:prstGeom prst="roundRect">
            <a:avLst>
              <a:gd name="adj" fmla="val 1272"/>
            </a:avLst>
          </a:prstGeom>
          <a:gradFill>
            <a:gsLst>
              <a:gs pos="0">
                <a:srgbClr val="4A66AC"/>
              </a:gs>
              <a:gs pos="100000">
                <a:schemeClr val="accent1">
                  <a:lumMod val="85000"/>
                  <a:lumOff val="15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901950"/>
            <a:ext cx="10363200" cy="1425614"/>
          </a:xfrm>
        </p:spPr>
        <p:txBody>
          <a:bodyPr anchor="ctr">
            <a:normAutofit/>
          </a:bodyPr>
          <a:lstStyle>
            <a:lvl1pPr algn="ctr">
              <a:defRPr sz="4800" b="1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246120"/>
            <a:ext cx="8534400" cy="1473200"/>
          </a:xfrm>
        </p:spPr>
        <p:txBody>
          <a:bodyPr>
            <a:normAutofit/>
          </a:bodyPr>
          <a:lstStyle>
            <a:lvl1pPr marL="0" indent="0" algn="ctr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Footer Placeholder 4"/>
          <p:cNvSpPr txBox="1"/>
          <p:nvPr/>
        </p:nvSpPr>
        <p:spPr>
          <a:xfrm>
            <a:off x="177875" y="6369561"/>
            <a:ext cx="2828562" cy="4050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24" name="Footer Placeholder 4"/>
          <p:cNvSpPr txBox="1"/>
          <p:nvPr/>
        </p:nvSpPr>
        <p:spPr>
          <a:xfrm>
            <a:off x="3976255" y="6369561"/>
            <a:ext cx="4096974" cy="4050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63538" y="6452347"/>
            <a:ext cx="60262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t>Geospatial Sensing and Modeling Lab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70"/>
          <a:stretch>
            <a:fillRect/>
          </a:stretch>
        </p:blipFill>
        <p:spPr>
          <a:xfrm>
            <a:off x="104501" y="6369561"/>
            <a:ext cx="2159726" cy="41910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70" b="-13760"/>
          <a:stretch>
            <a:fillRect/>
          </a:stretch>
        </p:blipFill>
        <p:spPr>
          <a:xfrm>
            <a:off x="1" y="6646009"/>
            <a:ext cx="998290" cy="220379"/>
          </a:xfrm>
          <a:prstGeom prst="rect">
            <a:avLst/>
          </a:prstGeom>
        </p:spPr>
      </p:pic>
      <p:sp>
        <p:nvSpPr>
          <p:cNvPr id="12" name="Footer Placeholder 4"/>
          <p:cNvSpPr txBox="1"/>
          <p:nvPr/>
        </p:nvSpPr>
        <p:spPr>
          <a:xfrm>
            <a:off x="4038600" y="6618914"/>
            <a:ext cx="4114800" cy="23678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bg1"/>
                </a:solidFill>
                <a:latin typeface="Century Gothic" panose="020B0502020202020204"/>
                <a:ea typeface="微软雅黑" panose="020B0503020204020204" charset="-122"/>
              </a:rPr>
              <a:t>Geospatial Sensing and Modeling Lab</a:t>
            </a:r>
          </a:p>
        </p:txBody>
      </p:sp>
      <p:sp>
        <p:nvSpPr>
          <p:cNvPr id="13" name="Slide Number Placeholder 5"/>
          <p:cNvSpPr txBox="1"/>
          <p:nvPr/>
        </p:nvSpPr>
        <p:spPr>
          <a:xfrm>
            <a:off x="9382388" y="6618914"/>
            <a:ext cx="2743200" cy="23678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490F93A-7956-401B-89B5-2D52B2116DAD}" type="slidenum">
              <a:rPr lang="en-US" sz="1200" smtClean="0">
                <a:solidFill>
                  <a:schemeClr val="bg1"/>
                </a:solidFill>
              </a:rPr>
              <a:t>‹#›</a:t>
            </a:fld>
            <a:endParaRPr lang="en-US" sz="1200">
              <a:solidFill>
                <a:schemeClr val="bg1"/>
              </a:solidFill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99432" y="1200839"/>
            <a:ext cx="11193137" cy="5125433"/>
          </a:xfrm>
        </p:spPr>
        <p:txBody>
          <a:bodyPr/>
          <a:lstStyle>
            <a:lvl1pPr marL="274320" indent="-36576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+mj-lt"/>
              <a:buAutoNum type="arabicPeriod"/>
              <a:defRPr baseline="0">
                <a:solidFill>
                  <a:schemeClr val="tx1"/>
                </a:solidFill>
              </a:defRPr>
            </a:lvl1pPr>
            <a:lvl2pPr marL="576580" indent="-27432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baseline="0">
                <a:solidFill>
                  <a:schemeClr val="tx1"/>
                </a:solidFill>
              </a:defRPr>
            </a:lvl2pPr>
            <a:lvl3pPr marL="11430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3pPr>
            <a:lvl4pPr marL="16002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4pPr>
            <a:lvl5pPr marL="20574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itle 6"/>
          <p:cNvSpPr>
            <a:spLocks noGrp="1"/>
          </p:cNvSpPr>
          <p:nvPr>
            <p:ph type="title"/>
          </p:nvPr>
        </p:nvSpPr>
        <p:spPr>
          <a:xfrm>
            <a:off x="609600" y="338328"/>
            <a:ext cx="10972800" cy="862511"/>
          </a:xfrm>
        </p:spPr>
        <p:txBody>
          <a:bodyPr anchor="ctr">
            <a:normAutofit/>
          </a:bodyPr>
          <a:lstStyle>
            <a:lvl1pPr>
              <a:defRPr sz="4000" b="1"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320"/>
          <p:cNvSpPr/>
          <p:nvPr/>
        </p:nvSpPr>
        <p:spPr>
          <a:xfrm>
            <a:off x="-1" y="6585045"/>
            <a:ext cx="12192000" cy="279043"/>
          </a:xfrm>
          <a:prstGeom prst="rect">
            <a:avLst/>
          </a:prstGeom>
          <a:solidFill>
            <a:srgbClr val="4A66A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  <p:sp>
        <p:nvSpPr>
          <p:cNvPr id="12" name="矩形 320"/>
          <p:cNvSpPr/>
          <p:nvPr/>
        </p:nvSpPr>
        <p:spPr>
          <a:xfrm>
            <a:off x="-1" y="0"/>
            <a:ext cx="12192000" cy="146304"/>
          </a:xfrm>
          <a:prstGeom prst="rect">
            <a:avLst/>
          </a:prstGeom>
          <a:solidFill>
            <a:srgbClr val="4A66A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435451"/>
            <a:ext cx="10363200" cy="1425614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CASALS</a:t>
            </a:r>
            <a:endParaRPr lang="en-US" sz="4000" dirty="0"/>
          </a:p>
        </p:txBody>
      </p:sp>
      <p:sp>
        <p:nvSpPr>
          <p:cNvPr id="5" name="TextBox 4"/>
          <p:cNvSpPr txBox="1"/>
          <p:nvPr/>
        </p:nvSpPr>
        <p:spPr>
          <a:xfrm>
            <a:off x="9860485" y="5457807"/>
            <a:ext cx="1793512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Jiageng Zhong</a:t>
            </a:r>
          </a:p>
          <a:p>
            <a:r>
              <a:rPr lang="en-US" sz="1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1DBD1-6565-C482-DB65-5CABAF288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E16C131-5491-B91F-01FA-D3DB17484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766" y="3879455"/>
            <a:ext cx="6372467" cy="255866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76E69CC-A7E1-2DB3-D078-9DF89306772F}"/>
              </a:ext>
            </a:extLst>
          </p:cNvPr>
          <p:cNvSpPr txBox="1"/>
          <p:nvPr/>
        </p:nvSpPr>
        <p:spPr>
          <a:xfrm>
            <a:off x="227066" y="141706"/>
            <a:ext cx="36455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CASALS architecture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3406734-239C-07F3-3F01-02A0003AAD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623" y="479845"/>
            <a:ext cx="11042754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CASALS (Concurrent Artificially-intelligent Spectrometry and Adaptive LiDAR System) is designed to acquire co-registered structure (range/waveform) and reflectance information over the same ground swath.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Primary CASALS LiDAR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Laser transmitter: wavelength-tuned pulsed emission (swath encoding)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Dispersive scan optics: </a:t>
            </a:r>
            <a:r>
              <a:rPr kumimoji="0" lang="el-G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λ→θ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beam steering (cross-track swath, no scanner)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Receiver + detector: multi-channel, grating-filtered return capture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Electronics/FPGA + digitizer: time-tagging + full-waveform acquisition (range-gated)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Airborne demo / measurement suite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GNSS/INS 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Applanix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 pose/time for geotagging and georeferencing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Co-aligned hyperspectral imager (Headwall): VNIR–SWIR reflectance over the LiDAR swath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Look-ahead cameras (concept/flight suite): context imaging for real-time targeting decisions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0079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A6EEB-2961-DD58-E8D2-A573F4BC7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322A9D-5140-6EE5-BD1C-5A6949800618}"/>
              </a:ext>
            </a:extLst>
          </p:cNvPr>
          <p:cNvSpPr txBox="1"/>
          <p:nvPr/>
        </p:nvSpPr>
        <p:spPr>
          <a:xfrm>
            <a:off x="227066" y="141706"/>
            <a:ext cx="3692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Observation principle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73F863-338A-A01C-EFA8-7BC57532D6F2}"/>
              </a:ext>
            </a:extLst>
          </p:cNvPr>
          <p:cNvSpPr txBox="1"/>
          <p:nvPr/>
        </p:nvSpPr>
        <p:spPr>
          <a:xfrm>
            <a:off x="623047" y="603371"/>
            <a:ext cx="10945906" cy="2949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dirty="0">
                <a:latin typeface="Arial" panose="020B0604020202020204" pitchFamily="34" charset="0"/>
              </a:rPr>
              <a:t>H</a:t>
            </a:r>
            <a:r>
              <a:rPr lang="en-US" dirty="0">
                <a:latin typeface="Arial" panose="020B0604020202020204" pitchFamily="34" charset="0"/>
              </a:rPr>
              <a:t>ow CASALS forms a swath</a:t>
            </a:r>
          </a:p>
          <a:p>
            <a:pPr marL="285750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</a:rPr>
              <a:t>Single beam, many footprints: CASALS sweeps laser wavelength, and a grating maps wavelength to cross-track angle, creating a dense footprint set across the swath.</a:t>
            </a:r>
          </a:p>
          <a:p>
            <a:pPr marL="285750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</a:rPr>
              <a:t>Track concept: a sweep visits many cross-track footprint locations; successive sweeps can “fill” the swath (SCBI waveforms note).</a:t>
            </a:r>
          </a:p>
          <a:p>
            <a:pPr marL="285750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</a:rPr>
              <a:t>Full-waveform LiDAR: each footprint returns a digitized analog waveform (vs. photon list), supporting canopy/ground separation and complex scenes.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3F9B78A-F8FC-91CB-41EF-9CD60C51B4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11" t="7331" r="9485" b="6387"/>
          <a:stretch>
            <a:fillRect/>
          </a:stretch>
        </p:blipFill>
        <p:spPr>
          <a:xfrm>
            <a:off x="262719" y="3666565"/>
            <a:ext cx="11666562" cy="275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919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914D-5AA9-F86D-71BF-BA2757E8D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35D87B-96FC-D537-353E-C0D89911262E}"/>
              </a:ext>
            </a:extLst>
          </p:cNvPr>
          <p:cNvSpPr txBox="1"/>
          <p:nvPr/>
        </p:nvSpPr>
        <p:spPr>
          <a:xfrm>
            <a:off x="227066" y="141706"/>
            <a:ext cx="39340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CASALS specifications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A48B3E-20CD-377A-B3AB-BBB29496A0AE}"/>
              </a:ext>
            </a:extLst>
          </p:cNvPr>
          <p:cNvSpPr txBox="1"/>
          <p:nvPr/>
        </p:nvSpPr>
        <p:spPr>
          <a:xfrm>
            <a:off x="600635" y="799641"/>
            <a:ext cx="11205882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Spaceflight concept / targets (scalable track count)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Wavelength-to-angle swath mapping: fast wavelength tuning + dispersive grating in the telescope (no mechanical scanner).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Cross-track capacity (concept): a 30-nm tuning range can form ~1,200 resolvable cross-track spots over 0.825° (~7.2 km swath from 500-km orbit); any subset can be selected by wavelength switching.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Key implication: “track count” is a design degree of freedom (up to ~1,200 resolvable spots in the cited concept), not inherently fixed at 256.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Airborne prototype / datasets (256-track implementation)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Operating wavelength (prototype for Earth science): 1040 nm.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Channelization: 256 tuned wavelengths across ~13 nm; 2-ns pulse carved at each wavelength; amplified up to 3 kW peak power (design).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Receiver filtering/detection: grating-spectrometer receiver with ~0.8-nm passband per footprint; HgCdTe APD array; signals time-division multiplexed to two high-speed ADCs; range-gated digitization to reduce data volume.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Airborne geometry @ 8.5 km: 0.67° total scan angle using 256 tuned wavelengths; ~110 m swath width; ~0.7 m overlapping footprints; ~0.43 m cross-track and ~0.24 m along-track spacing; waveform per footprint with ~20 detected photons (reported).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Airborne geometry @ ~5 km (SCBI note): 0.75° full-width scan; 32 footprints per sweep and 8 sweeps fill the swath to 256 overlapping footprints; ~0.24 m cross-track spacing; ~0.17 m along-track spacing at 80 m/s; ~65 m swath (and “equivalent” ~6.5 km from 500 km orbit).</a:t>
            </a:r>
          </a:p>
        </p:txBody>
      </p:sp>
    </p:spTree>
    <p:extLst>
      <p:ext uri="{BB962C8B-B14F-4D97-AF65-F5344CB8AC3E}">
        <p14:creationId xmlns:p14="http://schemas.microsoft.com/office/powerpoint/2010/main" val="2532852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44CA-936B-7116-F707-596BF2A9F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9BBDD2-9904-A7D5-4E41-5E71F671C433}"/>
              </a:ext>
            </a:extLst>
          </p:cNvPr>
          <p:cNvSpPr txBox="1"/>
          <p:nvPr/>
        </p:nvSpPr>
        <p:spPr>
          <a:xfrm>
            <a:off x="227066" y="141706"/>
            <a:ext cx="2517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Georeference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BB6C08-E07C-1265-235C-01705E9E8681}"/>
              </a:ext>
            </a:extLst>
          </p:cNvPr>
          <p:cNvSpPr txBox="1"/>
          <p:nvPr/>
        </p:nvSpPr>
        <p:spPr>
          <a:xfrm>
            <a:off x="573742" y="603371"/>
            <a:ext cx="11080376" cy="544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Time-tagged LiDAR data (Tx start time + Rx samples) + platform navigation (position/attitude). Airborne demo explicitly uses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Applanix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POS AVX 510 and reports ~1 m footprint geolocation accuracy (1</a:t>
            </a:r>
            <a:r>
              <a:rPr lang="el-GR" dirty="0">
                <a:latin typeface="Arial" panose="020B0604020202020204" pitchFamily="34" charset="0"/>
                <a:cs typeface="Arial" panose="020B0604020202020204" pitchFamily="34" charset="0"/>
              </a:rPr>
              <a:t>σ)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from 8.5 km, with over-water maneuvers to estimate pointing biases.</a:t>
            </a:r>
          </a:p>
          <a:p>
            <a:pPr algn="just">
              <a:lnSpc>
                <a:spcPct val="150000"/>
              </a:lnSpc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Steps: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Time alignment: synchronize LiDAR row/footprint timestamps to GNSS/INS time.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Range retrieval: estimate range to scattering surfaces from waveform timing relative to start pulse (Tx) and Rx gate.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Pointing model: convert wavelength channel → cross-track angle (calibrated wavelength-to-angle map) + apply attitude (roll/pitch/yaw) + boresight.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Ray–surface intersection: intersect LOS with Earth ellipsoid/DEM (or use waveform-derived range to solve 3D point along the LOS).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Calibration/refinement: solve residual biases (boresight, lever-arm, timing) using dedicated maneuvers / control surfaces; propagate uncertainties to products.</a:t>
            </a:r>
          </a:p>
        </p:txBody>
      </p:sp>
    </p:spTree>
    <p:extLst>
      <p:ext uri="{BB962C8B-B14F-4D97-AF65-F5344CB8AC3E}">
        <p14:creationId xmlns:p14="http://schemas.microsoft.com/office/powerpoint/2010/main" val="3479097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1FB44-2018-375C-CC66-8B9FB11C7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AD3D84-3A39-F429-01A1-20C101DD0312}"/>
              </a:ext>
            </a:extLst>
          </p:cNvPr>
          <p:cNvSpPr txBox="1"/>
          <p:nvPr/>
        </p:nvSpPr>
        <p:spPr>
          <a:xfrm>
            <a:off x="227066" y="141706"/>
            <a:ext cx="5430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Airborne / UAV observation mode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C7C0F491-05BD-8C80-10AF-F146269A74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120" y="603371"/>
            <a:ext cx="11427759" cy="25340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Cross-track steering: 256 tuned wavelengths spanning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0.67° total scan angle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yielding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~110 m swath from 8.5 km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altitude.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Footprint geometry (demo):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~0.7 m diameter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overlapping footprints;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~0.43 m cross-track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~0.24 m along-track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spacing.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Co-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boresighted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passive sensors: Headwall VNIR–SWIR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pushbroom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+ frame cameras; frame cameras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point ~7° ahead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give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~8 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onboard analysis/retargeting.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623EAC-F747-B9EB-4067-444C6B7C06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51" y="2830434"/>
            <a:ext cx="11821498" cy="3609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4697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6AEE9-3BCD-8746-50EB-BBCE4439D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30F991-CE7D-AE2D-9C4B-15FFC988C05A}"/>
              </a:ext>
            </a:extLst>
          </p:cNvPr>
          <p:cNvSpPr txBox="1"/>
          <p:nvPr/>
        </p:nvSpPr>
        <p:spPr>
          <a:xfrm>
            <a:off x="227066" y="141706"/>
            <a:ext cx="5430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Airborne / UAV observation mode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19DB83-CF7D-366F-16A9-AD6ED1574315}"/>
              </a:ext>
            </a:extLst>
          </p:cNvPr>
          <p:cNvSpPr txBox="1"/>
          <p:nvPr/>
        </p:nvSpPr>
        <p:spPr>
          <a:xfrm>
            <a:off x="331694" y="603371"/>
            <a:ext cx="5326282" cy="544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Wavelength-tuning points the laser beam cross-track over a full-width angle of 0.75° (0.013rad). 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One tuning sweep targets 32 footprint locations distributed with equal spacing across the swath and 8 sweeps fill in the swath cross-track with 256 overlapping footprints. 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cross-track footprint spacing is 0.24m at 5km ranging distance, equal to the FWHM diameter, forming a 65m wide swath (equivalent to 6.5km swath in 500km satellite orbit). 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along-track footprint spacing is 0.17m at 80m/s aircraft ground speed, forming 256 parallel tracks.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3EB10C-4A2C-984B-A855-AAD7992D6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330" y="429153"/>
            <a:ext cx="5949976" cy="53638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BA756BC-C9E6-E4EF-F2DB-6C7BD435998B}"/>
              </a:ext>
            </a:extLst>
          </p:cNvPr>
          <p:cNvSpPr txBox="1"/>
          <p:nvPr/>
        </p:nvSpPr>
        <p:spPr>
          <a:xfrm>
            <a:off x="5910330" y="5792964"/>
            <a:ext cx="44341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Arial" panose="020B0604020202020204" pitchFamily="34" charset="0"/>
              </a:rPr>
              <a:t>12 of 256 Wavelength-tuned Tracks</a:t>
            </a: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Arial" panose="020B0604020202020204" pitchFamily="34" charset="0"/>
              </a:rPr>
              <a:t>Across the Airborne CASALS Lidar Swath</a:t>
            </a:r>
          </a:p>
        </p:txBody>
      </p:sp>
    </p:spTree>
    <p:extLst>
      <p:ext uri="{BB962C8B-B14F-4D97-AF65-F5344CB8AC3E}">
        <p14:creationId xmlns:p14="http://schemas.microsoft.com/office/powerpoint/2010/main" val="252992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A9244-7E81-73FE-29FB-167D9464E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1B1C80-E8A1-FD0A-5331-661516AC0F9D}"/>
              </a:ext>
            </a:extLst>
          </p:cNvPr>
          <p:cNvSpPr txBox="1"/>
          <p:nvPr/>
        </p:nvSpPr>
        <p:spPr>
          <a:xfrm>
            <a:off x="227066" y="141706"/>
            <a:ext cx="65754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Airborne / UAV observation mode - TDMS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9C68B1-C0E8-1FCA-B6DD-8223374AB53A}"/>
              </a:ext>
            </a:extLst>
          </p:cNvPr>
          <p:cNvSpPr txBox="1"/>
          <p:nvPr/>
        </p:nvSpPr>
        <p:spPr>
          <a:xfrm>
            <a:off x="346897" y="651340"/>
            <a:ext cx="11498205" cy="58939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600"/>
              </a:spcAft>
            </a:pP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What the file represents (</a:t>
            </a:r>
            <a:r>
              <a:rPr lang="en-US" sz="1600" b="1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pushbroom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waveform LiDAR)</a:t>
            </a:r>
            <a:endParaRPr lang="en-US" sz="1600" b="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TDMS file stores many along-track advances called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rows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Each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row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contains the full cross-track swath as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256 waveform footprints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(parallel tracks).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Each footprint is a 1D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int16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waveform sampled in time/range.</a:t>
            </a:r>
          </a:p>
          <a:p>
            <a:pPr algn="just">
              <a:spcAft>
                <a:spcPts val="600"/>
              </a:spcAft>
            </a:pP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Key acquisition parameters (from TDMS group properties)</a:t>
            </a:r>
            <a:endParaRPr lang="en-US" sz="1600" b="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# </a:t>
            </a:r>
            <a:r>
              <a:rPr lang="en-US" sz="16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WVLSteps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/Sweep =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steps per sweep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(typically 32)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# Sweeps/</a:t>
            </a:r>
            <a:r>
              <a:rPr lang="en-US" sz="16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ShiftCycle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=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sweeps per cycle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(typically 8)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Sweeps/File =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rows per file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(number of </a:t>
            </a:r>
            <a:r>
              <a:rPr lang="en-US" sz="16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pushbroom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advances)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Derived: </a:t>
            </a:r>
            <a:r>
              <a:rPr lang="en-US" sz="16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footprints_per_row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sz="16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steps_per_sweep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× </a:t>
            </a:r>
            <a:r>
              <a:rPr lang="en-US" sz="16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sweeps_per_cycle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= 32 × 8 = 256</a:t>
            </a:r>
          </a:p>
          <a:p>
            <a:pPr algn="just">
              <a:spcAft>
                <a:spcPts val="600"/>
              </a:spcAft>
            </a:pP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Sweep vs Step (the critical definitions)</a:t>
            </a:r>
            <a:endParaRPr lang="en-US" sz="1600" b="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(k)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one discrete cross-track pointing/position within a wavelength-tuning sweep (k = 0..31).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Sweep (j)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one pass through all steps (j = 0..7 within a shift cycle).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Why 8 sweeps?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Interleaving/fill-in across sweeps densifies cross-track sampling so one row becomes 256 footprints.</a:t>
            </a:r>
          </a:p>
          <a:p>
            <a:pPr algn="just">
              <a:spcAft>
                <a:spcPts val="600"/>
              </a:spcAft>
            </a:pP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Channel naming and meaning (how data is stored)</a:t>
            </a:r>
            <a:endParaRPr lang="en-US" sz="1600" b="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TDMS contains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256 channels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named Sweep{j}Step{k} for all (</a:t>
            </a:r>
            <a:r>
              <a:rPr lang="en-US" sz="16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j,k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) pairs.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Each channel corresponds to a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fixed footprint index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across the entire file (same cross-track position pattern).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Each channel is stored as one long 1D stream made by concatenating all rows:</a:t>
            </a:r>
          </a:p>
          <a:p>
            <a:pPr lvl="2" algn="just">
              <a:spcAft>
                <a:spcPts val="600"/>
              </a:spcAft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channel = [row0 waveform][row1 waveform] ... [rowN-1 waveform]</a:t>
            </a:r>
          </a:p>
        </p:txBody>
      </p:sp>
    </p:spTree>
    <p:extLst>
      <p:ext uri="{BB962C8B-B14F-4D97-AF65-F5344CB8AC3E}">
        <p14:creationId xmlns:p14="http://schemas.microsoft.com/office/powerpoint/2010/main" val="3981881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51A1C-89B0-A2D4-5167-8B6CC5FC4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B96F6B-AE07-2785-FD53-FE94AD45BA47}"/>
              </a:ext>
            </a:extLst>
          </p:cNvPr>
          <p:cNvSpPr txBox="1"/>
          <p:nvPr/>
        </p:nvSpPr>
        <p:spPr>
          <a:xfrm>
            <a:off x="227066" y="141706"/>
            <a:ext cx="65754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Airborne / UAV observation mode - TDMS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B2DAE5-1984-7E7B-4C37-5A30B1A2ED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193" y="641580"/>
            <a:ext cx="10259613" cy="585515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533434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DF07B-AD59-CA1F-E5A1-3ABFA4FA3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CB41BD-5286-CD50-0832-79504F037767}"/>
              </a:ext>
            </a:extLst>
          </p:cNvPr>
          <p:cNvSpPr txBox="1"/>
          <p:nvPr/>
        </p:nvSpPr>
        <p:spPr>
          <a:xfrm>
            <a:off x="227066" y="141706"/>
            <a:ext cx="48702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Nadir-port window reflections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62CDE9-92FF-0A30-C396-84DC910D29E3}"/>
              </a:ext>
            </a:extLst>
          </p:cNvPr>
          <p:cNvSpPr txBox="1"/>
          <p:nvPr/>
        </p:nvSpPr>
        <p:spPr>
          <a:xfrm>
            <a:off x="558530" y="971775"/>
            <a:ext cx="7216588" cy="461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 “nadir-port window” is a protective optical window in the nadir viewing path. A small fraction of the laser pulse can reflect off that window surface(s) and re-enter the receiver path, creating a strong instrumental ghost (non-geophysical) at a consistent range/time.</a:t>
            </a:r>
          </a:p>
          <a:p>
            <a:pPr algn="just">
              <a:lnSpc>
                <a:spcPct val="150000"/>
              </a:lnSpc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Possible ways to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detect:</a:t>
            </a:r>
          </a:p>
          <a:p>
            <a:pPr marL="400050" indent="-400050">
              <a:lnSpc>
                <a:spcPct val="150000"/>
              </a:lnSpc>
              <a:buAutoNum type="romanLcParenBoth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fixed range bin / early-time consistency</a:t>
            </a:r>
          </a:p>
          <a:p>
            <a:pPr marL="400050" indent="-400050">
              <a:lnSpc>
                <a:spcPct val="150000"/>
              </a:lnSpc>
              <a:buAutoNum type="romanLcParenBoth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abnormal amplitude</a:t>
            </a:r>
          </a:p>
          <a:p>
            <a:pPr marL="400050" indent="-400050">
              <a:lnSpc>
                <a:spcPct val="150000"/>
              </a:lnSpc>
              <a:buAutoNum type="romanLcParenBoth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weak dependence on scene</a:t>
            </a:r>
          </a:p>
          <a:p>
            <a:pPr marL="400050" indent="-400050">
              <a:lnSpc>
                <a:spcPct val="150000"/>
              </a:lnSpc>
              <a:buAutoNum type="romanLcParenBoth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track-localized behavior</a:t>
            </a:r>
          </a:p>
          <a:p>
            <a:pPr algn="just">
              <a:lnSpc>
                <a:spcPct val="150000"/>
              </a:lnSpc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0EB5965-0B32-3C5A-4DD0-EEEC10686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5389" y="368678"/>
            <a:ext cx="3168081" cy="28553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DC0813D-C5CF-08ED-C8CD-CCE891C068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465388" y="3429000"/>
            <a:ext cx="3168081" cy="290885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8297C5-B857-3E03-63E9-E9380303CF4F}"/>
              </a:ext>
            </a:extLst>
          </p:cNvPr>
          <p:cNvSpPr txBox="1"/>
          <p:nvPr/>
        </p:nvSpPr>
        <p:spPr>
          <a:xfrm rot="16200000">
            <a:off x="7515082" y="469876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Range (m)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→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4FF4B9-A0C0-2B02-FC76-8B36C52AE56F}"/>
              </a:ext>
            </a:extLst>
          </p:cNvPr>
          <p:cNvSpPr txBox="1"/>
          <p:nvPr/>
        </p:nvSpPr>
        <p:spPr>
          <a:xfrm>
            <a:off x="9381750" y="6259686"/>
            <a:ext cx="1381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Track Index</a:t>
            </a:r>
          </a:p>
        </p:txBody>
      </p:sp>
    </p:spTree>
    <p:extLst>
      <p:ext uri="{BB962C8B-B14F-4D97-AF65-F5344CB8AC3E}">
        <p14:creationId xmlns:p14="http://schemas.microsoft.com/office/powerpoint/2010/main" val="21680706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622F6-673D-9C96-556A-2BE3C1D45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3CFA3F1-91FC-68B7-A03A-D5FC93B97B74}"/>
              </a:ext>
            </a:extLst>
          </p:cNvPr>
          <p:cNvSpPr txBox="1"/>
          <p:nvPr/>
        </p:nvSpPr>
        <p:spPr>
          <a:xfrm>
            <a:off x="3127948" y="2812154"/>
            <a:ext cx="593610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06.18</a:t>
            </a:r>
          </a:p>
        </p:txBody>
      </p:sp>
    </p:spTree>
    <p:extLst>
      <p:ext uri="{BB962C8B-B14F-4D97-AF65-F5344CB8AC3E}">
        <p14:creationId xmlns:p14="http://schemas.microsoft.com/office/powerpoint/2010/main" val="1490613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AE523-DB7C-9BB6-1C3B-E075964C5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F2EF34-039C-5136-554D-9D298052D138}"/>
              </a:ext>
            </a:extLst>
          </p:cNvPr>
          <p:cNvSpPr txBox="1"/>
          <p:nvPr/>
        </p:nvSpPr>
        <p:spPr>
          <a:xfrm>
            <a:off x="227066" y="141706"/>
            <a:ext cx="1199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AF33C8-EFA2-4C71-5A09-F5D190643538}"/>
              </a:ext>
            </a:extLst>
          </p:cNvPr>
          <p:cNvSpPr txBox="1"/>
          <p:nvPr/>
        </p:nvSpPr>
        <p:spPr>
          <a:xfrm>
            <a:off x="716530" y="2015669"/>
            <a:ext cx="223728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H5 file: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refh_longitude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refh_latitude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refh_height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refh_snr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refh_amp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refh_thres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good_snr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track_num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sweep_num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bg_mean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bg_std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EFDEDD-6980-1782-B215-852019A77CE6}"/>
              </a:ext>
            </a:extLst>
          </p:cNvPr>
          <p:cNvSpPr txBox="1"/>
          <p:nvPr/>
        </p:nvSpPr>
        <p:spPr>
          <a:xfrm>
            <a:off x="716530" y="659567"/>
            <a:ext cx="106490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CASALS L1B is a calibrated/geolocated sensor-level HDF5 product. In the current analysis, we use the </a:t>
            </a:r>
            <a:r>
              <a:rPr lang="en-US" u="sng" dirty="0" err="1">
                <a:latin typeface="Arial" panose="020B0604020202020204" pitchFamily="34" charset="0"/>
                <a:cs typeface="Arial" panose="020B0604020202020204" pitchFamily="34" charset="0"/>
              </a:rPr>
              <a:t>refh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reference-return fields as a Level-A point representation, together with signal attributes such as amplitude, background statistics, and SNR.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D43D129-154F-9571-20F7-D441C64F13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6016978" y="1480277"/>
            <a:ext cx="4914951" cy="451279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7B0FD65-FE21-5B80-A449-8AE26BEC34A6}"/>
              </a:ext>
            </a:extLst>
          </p:cNvPr>
          <p:cNvSpPr txBox="1"/>
          <p:nvPr/>
        </p:nvSpPr>
        <p:spPr>
          <a:xfrm rot="16200000">
            <a:off x="4936774" y="355200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Range (m)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→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17B51D-6F9D-B2B9-74AF-1FB459B070BD}"/>
              </a:ext>
            </a:extLst>
          </p:cNvPr>
          <p:cNvSpPr txBox="1"/>
          <p:nvPr/>
        </p:nvSpPr>
        <p:spPr>
          <a:xfrm>
            <a:off x="7783687" y="6049824"/>
            <a:ext cx="1381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Track Index</a:t>
            </a:r>
          </a:p>
        </p:txBody>
      </p:sp>
    </p:spTree>
    <p:extLst>
      <p:ext uri="{BB962C8B-B14F-4D97-AF65-F5344CB8AC3E}">
        <p14:creationId xmlns:p14="http://schemas.microsoft.com/office/powerpoint/2010/main" val="2174094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86B9F-B624-1190-FA40-222575982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asals_20241112_pushbroom_refh_snr">
            <a:hlinkClick r:id="" action="ppaction://media"/>
            <a:extLst>
              <a:ext uri="{FF2B5EF4-FFF2-40B4-BE49-F238E27FC236}">
                <a16:creationId xmlns:a16="http://schemas.microsoft.com/office/drawing/2014/main" id="{5AF826A6-6DDB-DA27-A4D0-DD012B48B78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27582" y="185357"/>
            <a:ext cx="11336696" cy="636534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A73ACD-9A81-5F5C-9A9F-A6F6EC7601FD}"/>
              </a:ext>
            </a:extLst>
          </p:cNvPr>
          <p:cNvSpPr txBox="1"/>
          <p:nvPr/>
        </p:nvSpPr>
        <p:spPr>
          <a:xfrm>
            <a:off x="227066" y="141706"/>
            <a:ext cx="1199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1907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04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1A5D3-2008-3F37-9276-2985523B9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22288-CDC5-FAD4-D6E1-E9F2FBA91C3F}"/>
              </a:ext>
            </a:extLst>
          </p:cNvPr>
          <p:cNvSpPr txBox="1"/>
          <p:nvPr/>
        </p:nvSpPr>
        <p:spPr>
          <a:xfrm>
            <a:off x="227066" y="141706"/>
            <a:ext cx="18982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Elevation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C56AADC-8D72-FF9B-50C6-EEA7CEF62F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59" t="14995" r="29647" b="12625"/>
          <a:stretch>
            <a:fillRect/>
          </a:stretch>
        </p:blipFill>
        <p:spPr>
          <a:xfrm>
            <a:off x="2406919" y="221855"/>
            <a:ext cx="5285533" cy="3737693"/>
          </a:xfrm>
          <a:prstGeom prst="rect">
            <a:avLst/>
          </a:prstGeom>
        </p:spPr>
      </p:pic>
      <p:sp>
        <p:nvSpPr>
          <p:cNvPr id="6" name="Right Brace 5">
            <a:extLst>
              <a:ext uri="{FF2B5EF4-FFF2-40B4-BE49-F238E27FC236}">
                <a16:creationId xmlns:a16="http://schemas.microsoft.com/office/drawing/2014/main" id="{709403E5-90E8-D23A-6B14-DC16CFA14655}"/>
              </a:ext>
            </a:extLst>
          </p:cNvPr>
          <p:cNvSpPr/>
          <p:nvPr/>
        </p:nvSpPr>
        <p:spPr>
          <a:xfrm>
            <a:off x="7728928" y="2190655"/>
            <a:ext cx="146903" cy="390651"/>
          </a:xfrm>
          <a:prstGeom prst="rightBrace">
            <a:avLst>
              <a:gd name="adj1" fmla="val 51515"/>
              <a:gd name="adj2" fmla="val 50000"/>
            </a:avLst>
          </a:prstGeom>
          <a:ln w="28575">
            <a:solidFill>
              <a:srgbClr val="FF01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581B3ABD-1718-702A-2E8A-88844ABFEB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5398" y="4312319"/>
            <a:ext cx="11881204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Raw CASALS–3DEP height difference is large and stable: about −37.6 to −38.0 m.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This is mainly a height-system mismatch: CASALS is treated as WGS84 ellipsoidal height, while 3DEP is treated as NAVD88 orthometric height.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WGS84</a:t>
            </a: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/ITRF transformation further reduces the residual to about −0.27 to −0.51 m, suggesting the remaining discrepancy is sub-meter after datum/frame handling.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Remaining residual likely reflects CASALS </a:t>
            </a:r>
            <a:r>
              <a:rPr kumimoji="0" lang="en-US" altLang="en-US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refh</a:t>
            </a: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return semantics, 3DEP ground interpolation, horizontal misregistration over sloped terrain, or CASALS-side geolocation/range calibration.</a:t>
            </a:r>
          </a:p>
        </p:txBody>
      </p:sp>
    </p:spTree>
    <p:extLst>
      <p:ext uri="{BB962C8B-B14F-4D97-AF65-F5344CB8AC3E}">
        <p14:creationId xmlns:p14="http://schemas.microsoft.com/office/powerpoint/2010/main" val="35561915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97A6A-A20E-565E-B92E-8E9F18B5E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C328F6-1DA1-DB0D-2B0C-386C85C97F0D}"/>
              </a:ext>
            </a:extLst>
          </p:cNvPr>
          <p:cNvSpPr txBox="1"/>
          <p:nvPr/>
        </p:nvSpPr>
        <p:spPr>
          <a:xfrm>
            <a:off x="227066" y="141706"/>
            <a:ext cx="25314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47417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13E27-E1B8-1FD7-238F-060105E8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B07816-984E-7634-FEDE-5BDF9C5A5C4B}"/>
              </a:ext>
            </a:extLst>
          </p:cNvPr>
          <p:cNvSpPr txBox="1"/>
          <p:nvPr/>
        </p:nvSpPr>
        <p:spPr>
          <a:xfrm>
            <a:off x="227066" y="141706"/>
            <a:ext cx="5430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Airborne / UAV observation mode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54635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A9A1C-1C0E-006D-A9C4-A327034CB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8D42B6-49E9-89CF-DEA9-3F4DE73CA49B}"/>
              </a:ext>
            </a:extLst>
          </p:cNvPr>
          <p:cNvSpPr txBox="1"/>
          <p:nvPr/>
        </p:nvSpPr>
        <p:spPr>
          <a:xfrm>
            <a:off x="227066" y="141706"/>
            <a:ext cx="5430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Airborne / UAV observation mode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0923665"/>
      </p:ext>
    </p:extLst>
  </p:cSld>
  <p:clrMapOvr>
    <a:masterClrMapping/>
  </p:clrMapOvr>
</p:sld>
</file>

<file path=ppt/theme/theme1.xml><?xml version="1.0" encoding="utf-8"?>
<a:theme xmlns:a="http://schemas.openxmlformats.org/drawingml/2006/main" name="MyLab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entury Gothic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MyLabTemplate</Template>
  <TotalTime>4120</TotalTime>
  <Words>1436</Words>
  <Application>Microsoft Office PowerPoint</Application>
  <PresentationFormat>Widescreen</PresentationFormat>
  <Paragraphs>97</Paragraphs>
  <Slides>17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Candara</vt:lpstr>
      <vt:lpstr>Century Gothic</vt:lpstr>
      <vt:lpstr>Courier New</vt:lpstr>
      <vt:lpstr>Wingdings</vt:lpstr>
      <vt:lpstr>MyLabTemplate</vt:lpstr>
      <vt:lpstr>CASALS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Tian, Xiangxi</dc:creator>
  <cp:lastModifiedBy>Jiageng Zhong</cp:lastModifiedBy>
  <cp:revision>3</cp:revision>
  <cp:lastPrinted>2023-03-20T21:48:00Z</cp:lastPrinted>
  <dcterms:created xsi:type="dcterms:W3CDTF">2023-03-13T20:22:00Z</dcterms:created>
  <dcterms:modified xsi:type="dcterms:W3CDTF">2026-06-18T13:51:23Z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CA90B532ADC54537AAF9D2451E2C1153_12</vt:lpwstr>
  </property>
  <property fmtid="{D5CDD505-2E9C-101B-9397-08002B2CF9AE}" pid="3" name="KSOProductBuildVer">
    <vt:lpwstr>2052-12.1.0.20305</vt:lpwstr>
  </property>
  <property fmtid="{D5CDD505-2E9C-101B-9397-08002B2CF9AE}" pid="4" name="MSIP_Label_f7606f69-b0ae-4874-be30-7d43a3c7be10_Enabled">
    <vt:lpwstr>true</vt:lpwstr>
  </property>
  <property fmtid="{D5CDD505-2E9C-101B-9397-08002B2CF9AE}" pid="5" name="MSIP_Label_f7606f69-b0ae-4874-be30-7d43a3c7be10_SetDate">
    <vt:lpwstr>2025-03-16T16:54:59Z</vt:lpwstr>
  </property>
  <property fmtid="{D5CDD505-2E9C-101B-9397-08002B2CF9AE}" pid="6" name="MSIP_Label_f7606f69-b0ae-4874-be30-7d43a3c7be10_Method">
    <vt:lpwstr>Standard</vt:lpwstr>
  </property>
  <property fmtid="{D5CDD505-2E9C-101B-9397-08002B2CF9AE}" pid="7" name="MSIP_Label_f7606f69-b0ae-4874-be30-7d43a3c7be10_Name">
    <vt:lpwstr>defa4170-0d19-0005-0001-bc88714345d2</vt:lpwstr>
  </property>
  <property fmtid="{D5CDD505-2E9C-101B-9397-08002B2CF9AE}" pid="8" name="MSIP_Label_f7606f69-b0ae-4874-be30-7d43a3c7be10_SiteId">
    <vt:lpwstr>4130bd39-7c53-419c-b1e5-8758d6d63f21</vt:lpwstr>
  </property>
  <property fmtid="{D5CDD505-2E9C-101B-9397-08002B2CF9AE}" pid="9" name="MSIP_Label_f7606f69-b0ae-4874-be30-7d43a3c7be10_ActionId">
    <vt:lpwstr>e8e0e3cd-6669-4278-ab21-f3c13c1359ea</vt:lpwstr>
  </property>
  <property fmtid="{D5CDD505-2E9C-101B-9397-08002B2CF9AE}" pid="10" name="MSIP_Label_f7606f69-b0ae-4874-be30-7d43a3c7be10_ContentBits">
    <vt:lpwstr>0</vt:lpwstr>
  </property>
  <property fmtid="{D5CDD505-2E9C-101B-9397-08002B2CF9AE}" pid="11" name="MSIP_Label_f7606f69-b0ae-4874-be30-7d43a3c7be10_Tag">
    <vt:lpwstr>50, 3, 0, 1</vt:lpwstr>
  </property>
</Properties>
</file>