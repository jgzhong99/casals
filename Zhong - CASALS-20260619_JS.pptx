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79" r:id="rId2"/>
    <p:sldId id="581" r:id="rId3"/>
    <p:sldId id="583" r:id="rId4"/>
    <p:sldId id="582" r:id="rId5"/>
    <p:sldId id="584" r:id="rId6"/>
    <p:sldId id="585" r:id="rId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DC5C8E-FE77-4A1D-996F-C5C763F2A40F}">
          <p14:sldIdLst>
            <p14:sldId id="579"/>
            <p14:sldId id="581"/>
            <p14:sldId id="583"/>
            <p14:sldId id="582"/>
            <p14:sldId id="584"/>
            <p14:sldId id="5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01"/>
    <a:srgbClr val="FFE1E1"/>
    <a:srgbClr val="FEC3B7"/>
    <a:srgbClr val="0000FF"/>
    <a:srgbClr val="03E103"/>
    <a:srgbClr val="FF0000"/>
    <a:srgbClr val="A1F7B1"/>
    <a:srgbClr val="4272C4"/>
    <a:srgbClr val="FF0006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20039-F74C-4DAF-AFA3-C9B18D74DA32}" v="10" dt="2026-06-19T16:12:49.698"/>
    <p1510:client id="{C747E727-3C78-4E35-A236-66E6CD3D4D99}" v="85" dt="2026-06-19T14:15:27.859"/>
    <p1510:client id="{FACF751F-5671-4F76-98D5-3A95C5E24D07}" v="6" dt="2026-06-19T14:35:23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52" autoAdjust="0"/>
  </p:normalViewPr>
  <p:slideViewPr>
    <p:cSldViewPr snapToGrid="0">
      <p:cViewPr varScale="1">
        <p:scale>
          <a:sx n="159" d="100"/>
          <a:sy n="159" d="100"/>
        </p:scale>
        <p:origin x="258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geng Zhong" userId="b52c9415-1ab4-4841-99d2-946641921277" providerId="ADAL" clId="{8EC3C21B-848A-4780-93CD-51C3A3128A88}"/>
    <pc:docChg chg="undo custSel modSld">
      <pc:chgData name="Jiageng Zhong" userId="b52c9415-1ab4-4841-99d2-946641921277" providerId="ADAL" clId="{8EC3C21B-848A-4780-93CD-51C3A3128A88}" dt="2026-06-19T16:13:29.251" v="133" actId="20577"/>
      <pc:docMkLst>
        <pc:docMk/>
      </pc:docMkLst>
      <pc:sldChg chg="modSp mod">
        <pc:chgData name="Jiageng Zhong" userId="b52c9415-1ab4-4841-99d2-946641921277" providerId="ADAL" clId="{8EC3C21B-848A-4780-93CD-51C3A3128A88}" dt="2026-06-19T16:10:33.202" v="81" actId="20577"/>
        <pc:sldMkLst>
          <pc:docMk/>
          <pc:sldMk cId="2174094271" sldId="579"/>
        </pc:sldMkLst>
        <pc:spChg chg="mod">
          <ac:chgData name="Jiageng Zhong" userId="b52c9415-1ab4-4841-99d2-946641921277" providerId="ADAL" clId="{8EC3C21B-848A-4780-93CD-51C3A3128A88}" dt="2026-06-19T16:10:33.202" v="81" actId="20577"/>
          <ac:spMkLst>
            <pc:docMk/>
            <pc:sldMk cId="2174094271" sldId="579"/>
            <ac:spMk id="10" creationId="{27B0FD65-FE21-5B80-A449-8AE26BEC34A6}"/>
          </ac:spMkLst>
        </pc:spChg>
      </pc:sldChg>
      <pc:sldChg chg="delSp modSp mod">
        <pc:chgData name="Jiageng Zhong" userId="b52c9415-1ab4-4841-99d2-946641921277" providerId="ADAL" clId="{8EC3C21B-848A-4780-93CD-51C3A3128A88}" dt="2026-06-19T16:13:29.251" v="133" actId="20577"/>
        <pc:sldMkLst>
          <pc:docMk/>
          <pc:sldMk cId="1014741727" sldId="583"/>
        </pc:sldMkLst>
        <pc:spChg chg="mod">
          <ac:chgData name="Jiageng Zhong" userId="b52c9415-1ab4-4841-99d2-946641921277" providerId="ADAL" clId="{8EC3C21B-848A-4780-93CD-51C3A3128A88}" dt="2026-06-19T16:13:29.251" v="133" actId="20577"/>
          <ac:spMkLst>
            <pc:docMk/>
            <pc:sldMk cId="1014741727" sldId="583"/>
            <ac:spMk id="4" creationId="{7FBBB5D9-275D-88E2-B394-A8F91C5B563B}"/>
          </ac:spMkLst>
        </pc:spChg>
        <pc:spChg chg="del mod">
          <ac:chgData name="Jiageng Zhong" userId="b52c9415-1ab4-4841-99d2-946641921277" providerId="ADAL" clId="{8EC3C21B-848A-4780-93CD-51C3A3128A88}" dt="2026-06-19T16:12:31.203" v="107"/>
          <ac:spMkLst>
            <pc:docMk/>
            <pc:sldMk cId="1014741727" sldId="583"/>
            <ac:spMk id="5" creationId="{F09D5FFF-97CD-8658-93FF-A67A3B82E64B}"/>
          </ac:spMkLst>
        </pc:spChg>
        <pc:spChg chg="mod">
          <ac:chgData name="Jiageng Zhong" userId="b52c9415-1ab4-4841-99d2-946641921277" providerId="ADAL" clId="{8EC3C21B-848A-4780-93CD-51C3A3128A88}" dt="2026-06-19T16:12:19.430" v="105" actId="1076"/>
          <ac:spMkLst>
            <pc:docMk/>
            <pc:sldMk cId="1014741727" sldId="583"/>
            <ac:spMk id="10" creationId="{4B87459E-61C4-F6EB-C371-A91E18F0F84E}"/>
          </ac:spMkLst>
        </pc:spChg>
      </pc:sldChg>
      <pc:sldChg chg="modSp mod">
        <pc:chgData name="Jiageng Zhong" userId="b52c9415-1ab4-4841-99d2-946641921277" providerId="ADAL" clId="{8EC3C21B-848A-4780-93CD-51C3A3128A88}" dt="2026-06-19T16:13:00.459" v="131" actId="20577"/>
        <pc:sldMkLst>
          <pc:docMk/>
          <pc:sldMk cId="430923665" sldId="585"/>
        </pc:sldMkLst>
        <pc:spChg chg="mod">
          <ac:chgData name="Jiageng Zhong" userId="b52c9415-1ab4-4841-99d2-946641921277" providerId="ADAL" clId="{8EC3C21B-848A-4780-93CD-51C3A3128A88}" dt="2026-06-19T16:13:00.459" v="131" actId="20577"/>
          <ac:spMkLst>
            <pc:docMk/>
            <pc:sldMk cId="430923665" sldId="585"/>
            <ac:spMk id="3" creationId="{8D04ECD5-C077-FF73-1046-BC9FB9B058A7}"/>
          </ac:spMkLst>
        </pc:spChg>
        <pc:spChg chg="mod">
          <ac:chgData name="Jiageng Zhong" userId="b52c9415-1ab4-4841-99d2-946641921277" providerId="ADAL" clId="{8EC3C21B-848A-4780-93CD-51C3A3128A88}" dt="2026-06-19T16:09:20.622" v="76" actId="2710"/>
          <ac:spMkLst>
            <pc:docMk/>
            <pc:sldMk cId="430923665" sldId="585"/>
            <ac:spMk id="4" creationId="{27751EC8-9F2C-3369-AF8B-7403EDCFD4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FC1E3-60BF-42DB-BABF-97110DE7E19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66713-8B59-4B43-8640-53155432D15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14745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rgbClr val="4A66AC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01950"/>
            <a:ext cx="10363200" cy="1425614"/>
          </a:xfrm>
        </p:spPr>
        <p:txBody>
          <a:bodyPr anchor="ctr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46120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Footer Placeholder 4"/>
          <p:cNvSpPr txBox="1"/>
          <p:nvPr/>
        </p:nvSpPr>
        <p:spPr>
          <a:xfrm>
            <a:off x="177875" y="6369561"/>
            <a:ext cx="2828562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4" name="Footer Placeholder 4"/>
          <p:cNvSpPr txBox="1"/>
          <p:nvPr/>
        </p:nvSpPr>
        <p:spPr>
          <a:xfrm>
            <a:off x="3976255" y="6369561"/>
            <a:ext cx="4096974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63538" y="6452347"/>
            <a:ext cx="6026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Geospatial Sensing and Modeling Lab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/>
          <a:stretch>
            <a:fillRect/>
          </a:stretch>
        </p:blipFill>
        <p:spPr>
          <a:xfrm>
            <a:off x="104501" y="6369561"/>
            <a:ext cx="2159726" cy="419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 b="-13760"/>
          <a:stretch>
            <a:fillRect/>
          </a:stretch>
        </p:blipFill>
        <p:spPr>
          <a:xfrm>
            <a:off x="1" y="6646009"/>
            <a:ext cx="998290" cy="220379"/>
          </a:xfrm>
          <a:prstGeom prst="rect">
            <a:avLst/>
          </a:prstGeom>
        </p:spPr>
      </p:pic>
      <p:sp>
        <p:nvSpPr>
          <p:cNvPr id="12" name="Footer Placeholder 4"/>
          <p:cNvSpPr txBox="1"/>
          <p:nvPr/>
        </p:nvSpPr>
        <p:spPr>
          <a:xfrm>
            <a:off x="4038600" y="6618914"/>
            <a:ext cx="41148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chemeClr val="bg1"/>
                </a:solidFill>
                <a:latin typeface="Century Gothic" panose="020B0502020202020204"/>
                <a:ea typeface="微软雅黑" panose="020B0503020204020204" charset="-122"/>
              </a:rPr>
              <a:t>Geospatial Sensing and Modeling Lab</a:t>
            </a:r>
          </a:p>
        </p:txBody>
      </p:sp>
      <p:sp>
        <p:nvSpPr>
          <p:cNvPr id="13" name="Slide Number Placeholder 5"/>
          <p:cNvSpPr txBox="1"/>
          <p:nvPr/>
        </p:nvSpPr>
        <p:spPr>
          <a:xfrm>
            <a:off x="9382388" y="6618914"/>
            <a:ext cx="27432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90F93A-7956-401B-89B5-2D52B2116DAD}" type="slidenum">
              <a:rPr lang="en-US" sz="1200" smtClean="0">
                <a:solidFill>
                  <a:schemeClr val="bg1"/>
                </a:solidFill>
              </a:rPr>
              <a:t>‹#›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99432" y="1200839"/>
            <a:ext cx="11193137" cy="5125433"/>
          </a:xfrm>
        </p:spPr>
        <p:txBody>
          <a:bodyPr/>
          <a:lstStyle>
            <a:lvl1pPr marL="274320" indent="-36576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baseline="0">
                <a:solidFill>
                  <a:schemeClr val="tx1"/>
                </a:solidFill>
              </a:defRPr>
            </a:lvl1pPr>
            <a:lvl2pPr marL="576580" indent="-27432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3pPr>
            <a:lvl4pPr marL="16002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4pPr>
            <a:lvl5pPr marL="20574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6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862511"/>
          </a:xfrm>
        </p:spPr>
        <p:txBody>
          <a:bodyPr anchor="ctr"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320"/>
          <p:cNvSpPr/>
          <p:nvPr/>
        </p:nvSpPr>
        <p:spPr>
          <a:xfrm>
            <a:off x="-1" y="6585045"/>
            <a:ext cx="12192000" cy="279043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320"/>
          <p:cNvSpPr/>
          <p:nvPr/>
        </p:nvSpPr>
        <p:spPr>
          <a:xfrm>
            <a:off x="-1" y="0"/>
            <a:ext cx="12192000" cy="146304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E523-DB7C-9BB6-1C3B-E075964C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F2EF34-039C-5136-554D-9D298052D138}"/>
              </a:ext>
            </a:extLst>
          </p:cNvPr>
          <p:cNvSpPr txBox="1"/>
          <p:nvPr/>
        </p:nvSpPr>
        <p:spPr>
          <a:xfrm>
            <a:off x="227066" y="141706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F33C8-EFA2-4C71-5A09-F5D190643538}"/>
              </a:ext>
            </a:extLst>
          </p:cNvPr>
          <p:cNvSpPr txBox="1"/>
          <p:nvPr/>
        </p:nvSpPr>
        <p:spPr>
          <a:xfrm>
            <a:off x="716530" y="2015669"/>
            <a:ext cx="22372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H5 file: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refh_longitude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refh_latitude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refh_height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refh_snr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refh_amp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refh_thres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good_snr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track_num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sweep_num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bg_mean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bg_std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FDEDD-6980-1782-B215-852019A77CE6}"/>
              </a:ext>
            </a:extLst>
          </p:cNvPr>
          <p:cNvSpPr txBox="1"/>
          <p:nvPr/>
        </p:nvSpPr>
        <p:spPr>
          <a:xfrm>
            <a:off x="716530" y="659567"/>
            <a:ext cx="1064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CASALS L1B is a calibrated/geolocated sensor-level HDF5 product. In the current analysis, we use the </a:t>
            </a:r>
            <a:r>
              <a:rPr lang="en-US" u="sng" dirty="0" err="1">
                <a:latin typeface="Arial" panose="020B0604020202020204" pitchFamily="34" charset="0"/>
                <a:cs typeface="Arial" panose="020B0604020202020204" pitchFamily="34" charset="0"/>
              </a:rPr>
              <a:t>refh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reference-return fields as a Level-A point representation, together with signal attributes such as amplitude, background statistics, and SNR.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43D129-154F-9571-20F7-D441C64F1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016978" y="1480277"/>
            <a:ext cx="4914951" cy="45127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B0FD65-FE21-5B80-A449-8AE26BEC34A6}"/>
              </a:ext>
            </a:extLst>
          </p:cNvPr>
          <p:cNvSpPr txBox="1"/>
          <p:nvPr/>
        </p:nvSpPr>
        <p:spPr>
          <a:xfrm rot="16200000">
            <a:off x="5141958" y="35520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→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7B51D-6F9D-B2B9-74AF-1FB459B070BD}"/>
              </a:ext>
            </a:extLst>
          </p:cNvPr>
          <p:cNvSpPr txBox="1"/>
          <p:nvPr/>
        </p:nvSpPr>
        <p:spPr>
          <a:xfrm>
            <a:off x="7783687" y="6049824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 Index</a:t>
            </a:r>
          </a:p>
        </p:txBody>
      </p:sp>
    </p:spTree>
    <p:extLst>
      <p:ext uri="{BB962C8B-B14F-4D97-AF65-F5344CB8AC3E}">
        <p14:creationId xmlns:p14="http://schemas.microsoft.com/office/powerpoint/2010/main" val="217409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6B9F-B624-1190-FA40-22257598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asals_20241112_pushbroom_refh_snr">
            <a:hlinkClick r:id="" action="ppaction://media"/>
            <a:extLst>
              <a:ext uri="{FF2B5EF4-FFF2-40B4-BE49-F238E27FC236}">
                <a16:creationId xmlns:a16="http://schemas.microsoft.com/office/drawing/2014/main" id="{C6B802D0-01CD-B160-DCE6-DE9A85CD24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1060" y="203866"/>
            <a:ext cx="11260604" cy="63226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A73ACD-9A81-5F5C-9A9F-A6F6EC7601FD}"/>
              </a:ext>
            </a:extLst>
          </p:cNvPr>
          <p:cNvSpPr txBox="1"/>
          <p:nvPr/>
        </p:nvSpPr>
        <p:spPr>
          <a:xfrm>
            <a:off x="227066" y="141706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90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7A6A-A20E-565E-B92E-8E9F18B5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466B69-93C6-A0A3-B9D6-AFBFD1294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07" y="141706"/>
            <a:ext cx="11052418" cy="62934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C328F6-1DA1-DB0D-2B0C-386C85C97F0D}"/>
              </a:ext>
            </a:extLst>
          </p:cNvPr>
          <p:cNvSpPr txBox="1"/>
          <p:nvPr/>
        </p:nvSpPr>
        <p:spPr>
          <a:xfrm>
            <a:off x="227066" y="141706"/>
            <a:ext cx="121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DSM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7459E-61C4-F6EB-C371-A91E18F0F84E}"/>
              </a:ext>
            </a:extLst>
          </p:cNvPr>
          <p:cNvSpPr txBox="1"/>
          <p:nvPr/>
        </p:nvSpPr>
        <p:spPr>
          <a:xfrm>
            <a:off x="1233109" y="6239382"/>
            <a:ext cx="9725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DSM is generated using points whose SNR&gt;=4.5.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Max elevation is taken; 2m DSM resolution.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BB5D9-275D-88E2-B394-A8F91C5B563B}"/>
              </a:ext>
            </a:extLst>
          </p:cNvPr>
          <p:cNvSpPr txBox="1"/>
          <p:nvPr/>
        </p:nvSpPr>
        <p:spPr>
          <a:xfrm>
            <a:off x="3048865" y="23814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WGS84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ellipsoidal height, UTM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Zone 18N </a:t>
            </a:r>
          </a:p>
        </p:txBody>
      </p:sp>
    </p:spTree>
    <p:extLst>
      <p:ext uri="{BB962C8B-B14F-4D97-AF65-F5344CB8AC3E}">
        <p14:creationId xmlns:p14="http://schemas.microsoft.com/office/powerpoint/2010/main" val="101474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A5D3-2008-3F37-9276-2985523B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22288-CDC5-FAD4-D6E1-E9F2FBA91C3F}"/>
              </a:ext>
            </a:extLst>
          </p:cNvPr>
          <p:cNvSpPr txBox="1"/>
          <p:nvPr/>
        </p:nvSpPr>
        <p:spPr>
          <a:xfrm>
            <a:off x="227066" y="141706"/>
            <a:ext cx="189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Elevation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540E2CE-161D-6227-991D-044213C8C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6" y="4790992"/>
            <a:ext cx="110204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CASALS - 3DEP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height difference is large and stable,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−37.6 to −38.0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mainly reflecting a mixed </a:t>
            </a:r>
            <a:r>
              <a:rPr lang="en-US" altLang="en-US" dirty="0">
                <a:latin typeface="Arial" panose="020B0604020202020204" pitchFamily="34" charset="0"/>
              </a:rPr>
              <a:t>elevation datum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 rather than measurement error.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CASALS is </a:t>
            </a:r>
            <a:r>
              <a:rPr lang="en-US" altLang="en-US" dirty="0">
                <a:latin typeface="Arial" panose="020B0604020202020204" pitchFamily="34" charset="0"/>
              </a:rPr>
              <a:t>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WGS84 ellipsoidal height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3DEP </a:t>
            </a:r>
            <a:r>
              <a:rPr lang="en-US" altLang="en-US" dirty="0"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NAVD88 orthometric height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WGS84 3D transformation removes a shift of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−37.1 to −37.7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reduces the ground-to-ground residual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−0.28 to −0.52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E1098E-3B4F-5C11-C80D-035D19E886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6"/>
          <a:stretch>
            <a:fillRect/>
          </a:stretch>
        </p:blipFill>
        <p:spPr>
          <a:xfrm>
            <a:off x="6095999" y="1127659"/>
            <a:ext cx="5762625" cy="33691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7486EE-D177-975A-DF27-739BC042458F}"/>
              </a:ext>
            </a:extLst>
          </p:cNvPr>
          <p:cNvSpPr txBox="1"/>
          <p:nvPr/>
        </p:nvSpPr>
        <p:spPr>
          <a:xfrm>
            <a:off x="6938894" y="765211"/>
            <a:ext cx="454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Histogram of residuals after transformation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4FBFA2-6CF7-8D98-A9AD-F66DA8A405D7}"/>
              </a:ext>
            </a:extLst>
          </p:cNvPr>
          <p:cNvGrpSpPr/>
          <p:nvPr/>
        </p:nvGrpSpPr>
        <p:grpSpPr>
          <a:xfrm>
            <a:off x="970383" y="1108075"/>
            <a:ext cx="5125615" cy="3388703"/>
            <a:chOff x="970383" y="1108075"/>
            <a:chExt cx="5125615" cy="33887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B11DB70-2E78-8985-326A-4218E0859CBB}"/>
                </a:ext>
              </a:extLst>
            </p:cNvPr>
            <p:cNvGrpSpPr/>
            <p:nvPr/>
          </p:nvGrpSpPr>
          <p:grpSpPr>
            <a:xfrm>
              <a:off x="970383" y="1108075"/>
              <a:ext cx="4973217" cy="3388703"/>
              <a:chOff x="3453233" y="212330"/>
              <a:chExt cx="5468912" cy="373769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5C56AADC-8D72-FF9B-50C6-EEA7CEF62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9459" t="14995" r="29647" b="12625"/>
              <a:stretch>
                <a:fillRect/>
              </a:stretch>
            </p:blipFill>
            <p:spPr>
              <a:xfrm>
                <a:off x="3453233" y="212330"/>
                <a:ext cx="5285533" cy="3737693"/>
              </a:xfrm>
              <a:prstGeom prst="rect">
                <a:avLst/>
              </a:prstGeom>
            </p:spPr>
          </p:pic>
          <p:sp>
            <p:nvSpPr>
              <p:cNvPr id="6" name="Right Brace 5">
                <a:extLst>
                  <a:ext uri="{FF2B5EF4-FFF2-40B4-BE49-F238E27FC236}">
                    <a16:creationId xmlns:a16="http://schemas.microsoft.com/office/drawing/2014/main" id="{709403E5-90E8-D23A-6B14-DC16CFA14655}"/>
                  </a:ext>
                </a:extLst>
              </p:cNvPr>
              <p:cNvSpPr/>
              <p:nvPr/>
            </p:nvSpPr>
            <p:spPr>
              <a:xfrm>
                <a:off x="8775242" y="2181130"/>
                <a:ext cx="146903" cy="390651"/>
              </a:xfrm>
              <a:prstGeom prst="rightBrace">
                <a:avLst>
                  <a:gd name="adj1" fmla="val 51515"/>
                  <a:gd name="adj2" fmla="val 50000"/>
                </a:avLst>
              </a:prstGeom>
              <a:ln w="28575">
                <a:solidFill>
                  <a:srgbClr val="FF01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Speech Bubble: Oval 2">
              <a:extLst>
                <a:ext uri="{FF2B5EF4-FFF2-40B4-BE49-F238E27FC236}">
                  <a16:creationId xmlns:a16="http://schemas.microsoft.com/office/drawing/2014/main" id="{117A04E0-312A-1E89-05ED-9B42A16E138D}"/>
                </a:ext>
              </a:extLst>
            </p:cNvPr>
            <p:cNvSpPr/>
            <p:nvPr/>
          </p:nvSpPr>
          <p:spPr>
            <a:xfrm>
              <a:off x="4156364" y="3661552"/>
              <a:ext cx="1617013" cy="602673"/>
            </a:xfrm>
            <a:prstGeom prst="wedgeEllipseCallout">
              <a:avLst>
                <a:gd name="adj1" fmla="val -67055"/>
                <a:gd name="adj2" fmla="val -10819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CASALS</a:t>
              </a:r>
            </a:p>
          </p:txBody>
        </p:sp>
        <p:sp>
          <p:nvSpPr>
            <p:cNvPr id="5" name="Speech Bubble: Oval 4">
              <a:extLst>
                <a:ext uri="{FF2B5EF4-FFF2-40B4-BE49-F238E27FC236}">
                  <a16:creationId xmlns:a16="http://schemas.microsoft.com/office/drawing/2014/main" id="{59BDAF88-4589-A229-37CF-DE338D56F59C}"/>
                </a:ext>
              </a:extLst>
            </p:cNvPr>
            <p:cNvSpPr/>
            <p:nvPr/>
          </p:nvSpPr>
          <p:spPr>
            <a:xfrm>
              <a:off x="4478985" y="1985658"/>
              <a:ext cx="1617013" cy="602673"/>
            </a:xfrm>
            <a:prstGeom prst="wedgeEllipseCallout">
              <a:avLst>
                <a:gd name="adj1" fmla="val -74124"/>
                <a:gd name="adj2" fmla="val 8491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3DEP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19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3E27-E1B8-1FD7-238F-060105E8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52588D-970B-3750-F4C3-47A3E61A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0" t="46604" r="14889" b="36640"/>
          <a:stretch>
            <a:fillRect/>
          </a:stretch>
        </p:blipFill>
        <p:spPr>
          <a:xfrm>
            <a:off x="371256" y="674127"/>
            <a:ext cx="10199805" cy="1725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76BF86-31E8-7BA7-45FB-1199B66C89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50" t="46603" r="14889" b="36641"/>
          <a:stretch>
            <a:fillRect/>
          </a:stretch>
        </p:blipFill>
        <p:spPr>
          <a:xfrm>
            <a:off x="371256" y="4652718"/>
            <a:ext cx="10199808" cy="1725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3E6EF-24C5-8CE1-1D14-1AACF604D0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9" t="46603" r="14889" b="36641"/>
          <a:stretch>
            <a:fillRect/>
          </a:stretch>
        </p:blipFill>
        <p:spPr>
          <a:xfrm>
            <a:off x="371256" y="2663422"/>
            <a:ext cx="10199806" cy="17253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B07816-984E-7634-FEDE-5BDF9C5A5C4B}"/>
              </a:ext>
            </a:extLst>
          </p:cNvPr>
          <p:cNvSpPr txBox="1"/>
          <p:nvPr/>
        </p:nvSpPr>
        <p:spPr>
          <a:xfrm>
            <a:off x="227066" y="141706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Classification: ground and vegetation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BD25B-D331-2199-C0ED-097B9B59FC4D}"/>
              </a:ext>
            </a:extLst>
          </p:cNvPr>
          <p:cNvSpPr txBox="1"/>
          <p:nvPr/>
        </p:nvSpPr>
        <p:spPr>
          <a:xfrm>
            <a:off x="371256" y="2030186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Points</a:t>
            </a:r>
            <a:endParaRPr lang="en-US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6585B2-8702-FE3E-6D4A-53737C8E59B1}"/>
              </a:ext>
            </a:extLst>
          </p:cNvPr>
          <p:cNvSpPr txBox="1"/>
          <p:nvPr/>
        </p:nvSpPr>
        <p:spPr>
          <a:xfrm>
            <a:off x="371256" y="4019483"/>
            <a:ext cx="202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Filtered Points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4419D-A367-DFA5-84E5-395C810F902B}"/>
              </a:ext>
            </a:extLst>
          </p:cNvPr>
          <p:cNvSpPr txBox="1"/>
          <p:nvPr/>
        </p:nvSpPr>
        <p:spPr>
          <a:xfrm>
            <a:off x="371256" y="6008779"/>
            <a:ext cx="202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Ground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753AC-3B9D-78D3-1D79-9CFF08E727B5}"/>
              </a:ext>
            </a:extLst>
          </p:cNvPr>
          <p:cNvSpPr txBox="1"/>
          <p:nvPr/>
        </p:nvSpPr>
        <p:spPr>
          <a:xfrm>
            <a:off x="6413500" y="187872"/>
            <a:ext cx="483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casals_l1b_20241118T171757_001_02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A5DE2-A62F-BFE0-B3DD-7ACB34A00E4A}"/>
              </a:ext>
            </a:extLst>
          </p:cNvPr>
          <p:cNvSpPr txBox="1"/>
          <p:nvPr/>
        </p:nvSpPr>
        <p:spPr>
          <a:xfrm>
            <a:off x="10742180" y="1300604"/>
            <a:ext cx="1007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points for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52595-7B56-38FB-131E-C3138F60E436}"/>
              </a:ext>
            </a:extLst>
          </p:cNvPr>
          <p:cNvSpPr txBox="1"/>
          <p:nvPr/>
        </p:nvSpPr>
        <p:spPr>
          <a:xfrm>
            <a:off x="10696979" y="3157048"/>
            <a:ext cx="129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Green points for surface cover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83EC9-D60A-12EF-740D-637B0713EB4A}"/>
              </a:ext>
            </a:extLst>
          </p:cNvPr>
          <p:cNvSpPr txBox="1"/>
          <p:nvPr/>
        </p:nvSpPr>
        <p:spPr>
          <a:xfrm>
            <a:off x="10742180" y="5095731"/>
            <a:ext cx="129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Grey points for ground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7F17C3-A725-0DC8-E243-16834F4E62BE}"/>
              </a:ext>
            </a:extLst>
          </p:cNvPr>
          <p:cNvCxnSpPr>
            <a:stCxn id="11" idx="1"/>
          </p:cNvCxnSpPr>
          <p:nvPr/>
        </p:nvCxnSpPr>
        <p:spPr>
          <a:xfrm flipH="1">
            <a:off x="9833548" y="5326564"/>
            <a:ext cx="908632" cy="39915"/>
          </a:xfrm>
          <a:prstGeom prst="line">
            <a:avLst/>
          </a:prstGeom>
          <a:ln w="190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AC86A7-ED71-11CB-FEFA-FF8ABD45E6C4}"/>
              </a:ext>
            </a:extLst>
          </p:cNvPr>
          <p:cNvCxnSpPr>
            <a:stCxn id="5" idx="1"/>
          </p:cNvCxnSpPr>
          <p:nvPr/>
        </p:nvCxnSpPr>
        <p:spPr>
          <a:xfrm flipH="1">
            <a:off x="9120016" y="3387881"/>
            <a:ext cx="1576963" cy="197766"/>
          </a:xfrm>
          <a:prstGeom prst="line">
            <a:avLst/>
          </a:prstGeom>
          <a:ln w="190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F86EF7-F789-4263-31D4-838EFDF5785A}"/>
              </a:ext>
            </a:extLst>
          </p:cNvPr>
          <p:cNvCxnSpPr>
            <a:stCxn id="3" idx="1"/>
          </p:cNvCxnSpPr>
          <p:nvPr/>
        </p:nvCxnSpPr>
        <p:spPr>
          <a:xfrm flipH="1">
            <a:off x="8895163" y="1531437"/>
            <a:ext cx="1847017" cy="603162"/>
          </a:xfrm>
          <a:prstGeom prst="line">
            <a:avLst/>
          </a:prstGeom>
          <a:ln w="190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46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9A1C-1C0E-006D-A9C4-A327034CB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D42B6-49E9-89CF-DEA9-3F4DE73CA49B}"/>
              </a:ext>
            </a:extLst>
          </p:cNvPr>
          <p:cNvSpPr txBox="1"/>
          <p:nvPr/>
        </p:nvSpPr>
        <p:spPr>
          <a:xfrm>
            <a:off x="227066" y="141706"/>
            <a:ext cx="4767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Understanding &amp; Suggestion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04ECD5-C077-FF73-1046-BC9FB9B05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803045"/>
            <a:ext cx="11607800" cy="3001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CASALS L1B is a geolocated waveform product: it provides full transmit/receive waveforms and one geolocated reference return per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pulse.The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reference return represents the strongest receive-waveform bin, which is one selected waveform bin.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are no confirmed stored longitude/latitude/height for other points along the same beam.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Beam-angle and range-window information are present and meaningful, but the angle convention and the full range-bin mapping are not yet sufficiently documented for independent georeferencing.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If the time/range sampling and beam geometry are fully defined, other waveform bins may be converted to derived coordinate candidates. Without this definition, those coordinates remain uncertain.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7751EC8-9F2C-3369-AF8B-7403EDCFD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4027201"/>
            <a:ext cx="11607800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Suggestion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Preserve or document complete waveform georeferencing information.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Ideally, provide either explicit coordinates for waveform bins/peaks, or a fully specified beam/range model that supports coordinate derivation (Clarify beam-angle convention, sampling/range definition, sign convention, one-way versus two-way range treatment, and applied corrections).</a:t>
            </a:r>
          </a:p>
        </p:txBody>
      </p:sp>
    </p:spTree>
    <p:extLst>
      <p:ext uri="{BB962C8B-B14F-4D97-AF65-F5344CB8AC3E}">
        <p14:creationId xmlns:p14="http://schemas.microsoft.com/office/powerpoint/2010/main" val="430923665"/>
      </p:ext>
    </p:extLst>
  </p:cSld>
  <p:clrMapOvr>
    <a:masterClrMapping/>
  </p:clrMapOvr>
</p:sld>
</file>

<file path=ppt/theme/theme1.xml><?xml version="1.0" encoding="utf-8"?>
<a:theme xmlns:a="http://schemas.openxmlformats.org/drawingml/2006/main" name="MyLab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MyLabTemplate</Template>
  <TotalTime>5680</TotalTime>
  <Words>411</Words>
  <Application>Microsoft Office PowerPoint</Application>
  <PresentationFormat>Widescreen</PresentationFormat>
  <Paragraphs>36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Candara</vt:lpstr>
      <vt:lpstr>Century Gothic</vt:lpstr>
      <vt:lpstr>Courier New</vt:lpstr>
      <vt:lpstr>Wingdings</vt:lpstr>
      <vt:lpstr>MyLabTemplate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Tian, Xiangxi</dc:creator>
  <cp:lastModifiedBy>Jiageng Zhong</cp:lastModifiedBy>
  <cp:revision>4</cp:revision>
  <cp:lastPrinted>2023-03-20T21:48:00Z</cp:lastPrinted>
  <dcterms:created xsi:type="dcterms:W3CDTF">2023-03-13T20:22:00Z</dcterms:created>
  <dcterms:modified xsi:type="dcterms:W3CDTF">2026-06-19T16:13:30Z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CA90B532ADC54537AAF9D2451E2C1153_12</vt:lpwstr>
  </property>
  <property fmtid="{D5CDD505-2E9C-101B-9397-08002B2CF9AE}" pid="3" name="KSOProductBuildVer">
    <vt:lpwstr>2052-12.1.0.20305</vt:lpwstr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2025-03-16T16:54:59Z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e8e0e3cd-6669-4278-ab21-f3c13c1359ea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50, 3, 0, 1</vt:lpwstr>
  </property>
</Properties>
</file>